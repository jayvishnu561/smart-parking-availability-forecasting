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4" r:id="rId5"/>
    <p:sldId id="265" r:id="rId6"/>
    <p:sldId id="273" r:id="rId7"/>
    <p:sldId id="270" r:id="rId8"/>
    <p:sldId id="269" r:id="rId9"/>
    <p:sldId id="274" r:id="rId10"/>
    <p:sldId id="267" r:id="rId11"/>
    <p:sldId id="277" r:id="rId12"/>
    <p:sldId id="276" r:id="rId13"/>
    <p:sldId id="272" r:id="rId14"/>
  </p:sldIdLst>
  <p:sldSz cx="9753600" cy="7315200"/>
  <p:notesSz cx="6858000" cy="9144000"/>
  <p:embeddedFontLst>
    <p:embeddedFont>
      <p:font typeface="Times New Roman Bold" panose="02020803070505020304" pitchFamily="18" charset="0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22" autoAdjust="0"/>
  </p:normalViewPr>
  <p:slideViewPr>
    <p:cSldViewPr>
      <p:cViewPr varScale="1">
        <p:scale>
          <a:sx n="62" d="100"/>
          <a:sy n="62" d="100"/>
        </p:scale>
        <p:origin x="117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September 2023</a:t>
            </a:r>
          </a:p>
          <a:p>
            <a:r>
              <a:rPr lang="en-US"/>
              <a:t>1-59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97765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5589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9FFCE9-04D8-C375-D68B-1AAEA551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5DD7E7-D43E-0217-369D-7CC420104F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30EFED1-DA60-952D-6796-FD9630D446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8622AF50-7C7F-A93C-584E-FE2B5666C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04F66709-F9D3-5F59-110E-0397F9423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0354F7-D4D1-9631-E650-DAB8092C37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0459BF-B7D0-3D4A-43D8-77C9FD1ED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492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2BE475-69B0-1033-54DB-0C6B0669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FE6D250-85C1-E74B-9FDA-D274E53960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C542D1E-FD80-3504-25F8-AC1D80EDF6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EF93B307-529C-ED82-FD3F-E05B9546B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1CE45C33-8EF0-EFCB-8B6B-BC443A7D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699801-FA5D-52A8-87F2-8AACA32EA3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7C91E5D-25B2-DB9B-C3B5-3F510500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909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EFD877-E61B-77CD-95A0-22680CAF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21DD9C3-94EC-9B4C-BF1C-005CF84BE2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89B4A96-8F6E-73A4-3A7C-4D839F7011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4E5CAF7A-ADE9-436A-3677-5FEE862E6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F0122051-6DA3-79BB-E52E-A9470BF44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14FA857-E888-2583-C45D-77046EFE47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7F05FBD-031A-0383-BAA9-A35374F7E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8312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EF534A-FB9A-BFCC-DF4B-2B740DD5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C175276-535B-1708-754F-062C377EB7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537BDDD-79FE-4A91-3A5D-0E4442C153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A621309A-664C-B8B6-8718-89536536E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3D224BC6-E1B8-B527-C141-820468919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906C0E-9811-F7CD-DB61-CE01EF3758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B9C193-62B2-82AE-B647-106AC23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761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F122314-A789-60AB-7889-6F76883D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E31284D-9C64-47FE-7156-32A1AE306A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F5F547E-EC9A-98EE-F51E-32F819294B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8C69F4EC-0EB5-C987-EC3E-574EE5615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F84BACA2-A665-7DAA-90FE-94CEA579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66C4BC0-7B54-DF60-92CF-9EB78B2EDC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D88C635-3C58-2BCB-ECEC-C76E9BE8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3194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B83443-827A-EC00-1B9C-03328D70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55ECED2-4A9F-C236-145A-25DBFC81B0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5A99AB6-6C49-6923-0CD1-719C71F1F3E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A5F494B3-45BF-F602-AEE9-9B2BC890E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A36C7BC0-1E82-F9E5-29F7-0A20DB91B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12A8FDB-06E8-8308-FE34-4AF64AFA4E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161BFDA-BDAD-27D5-810B-A5218E796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29256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37EB24-ED3B-4D03-00EB-C1F3AC2A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3B1D238-2227-B62F-3ADD-889E19F0D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2498196-4295-7DC7-B353-18287F8A0FC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B92C61F7-7908-39FE-9AF0-9975D9407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7F2ED291-EF05-6F08-BC48-62FA10EA7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E041DF-A27E-7446-F4D3-C41F6E087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903BCA8-9AD0-D0F8-55EC-74D6C32AB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8788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37EB24-ED3B-4D03-00EB-C1F3AC2A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3B1D238-2227-B62F-3ADD-889E19F0D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2498196-4295-7DC7-B353-18287F8A0FC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B92C61F7-7908-39FE-9AF0-9975D9407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7F2ED291-EF05-6F08-BC48-62FA10EA7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7E041DF-A27E-7446-F4D3-C41F6E087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903BCA8-9AD0-D0F8-55EC-74D6C32AB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5164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EF534A-FB9A-BFCC-DF4B-2B740DD5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C175276-535B-1708-754F-062C377EB7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537BDDD-79FE-4A91-3A5D-0E4442C153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A621309A-664C-B8B6-8718-89536536E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3D224BC6-E1B8-B527-C141-820468919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906C0E-9811-F7CD-DB61-CE01EF3758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B9C193-62B2-82AE-B647-106AC23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60389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6DC2D0-0797-B5D0-AAA3-DDFE3DD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444A013-7F78-9858-FA32-8CAE242A2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AB23476-3F96-17A9-F3A8-CE83247B7C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9B30C438-AD6D-AE68-A346-EA1A5E0BF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FD7C8604-3B92-B3C3-B259-EC70ECC28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195D0B-6BD2-CC76-61BC-B6878FCC36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A26CD13-A315-2D8D-A8DB-4CF223113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481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426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43" r="1"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32793" y="5410200"/>
            <a:ext cx="1343607" cy="1619046"/>
          </a:xfrm>
          <a:custGeom>
            <a:avLst/>
            <a:gdLst/>
            <a:ahLst/>
            <a:cxnLst/>
            <a:rect l="l" t="t" r="r" b="b"/>
            <a:pathLst>
              <a:path w="1343607" h="1619046">
                <a:moveTo>
                  <a:pt x="0" y="0"/>
                </a:moveTo>
                <a:lnTo>
                  <a:pt x="1343608" y="0"/>
                </a:lnTo>
                <a:lnTo>
                  <a:pt x="1343608" y="1619046"/>
                </a:lnTo>
                <a:lnTo>
                  <a:pt x="0" y="1619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17864" y="556272"/>
            <a:ext cx="6787661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KONGU ENGINEERING COLLEGE</a:t>
            </a:r>
          </a:p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DEPARTMENT OF AI&amp;DS</a:t>
            </a:r>
          </a:p>
          <a:p>
            <a:pPr algn="ctr">
              <a:lnSpc>
                <a:spcPts val="3071"/>
              </a:lnSpc>
            </a:pPr>
            <a:endParaRPr lang="en-US" sz="2700" b="1" dirty="0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HCL PROJECT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42389" y="2673537"/>
            <a:ext cx="7237638" cy="44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SMART PARKING AVAILABILITY FORECASTING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81400" y="4469839"/>
            <a:ext cx="54864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PROJECT MEMBERS:</a:t>
            </a:r>
            <a:endParaRPr lang="en-US" sz="2199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HARIPRASHATH V - 24ADR053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JANANI K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- 24ADR058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JAY VISHNU G - 24ADR059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algn="ctr">
              <a:lnSpc>
                <a:spcPts val="263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8" name="image2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-32427" y="3346"/>
            <a:ext cx="2734641" cy="1139654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5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9162" y="394066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9162" y="990600"/>
            <a:ext cx="830580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parking in cities is difficult and time-consuming. Drivers often waste time searching for empty slots.</a:t>
            </a:r>
            <a:endParaRPr lang="en-US" sz="23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increased traffic congestion in busy areas. It also causes unnecessary fuel consumption.</a:t>
            </a:r>
            <a:endParaRPr lang="en-US" sz="23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only show current availability. They do not predict future parking conditions.</a:t>
            </a:r>
            <a:endParaRPr lang="en-US" sz="23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system. It should forecast parking availability in advance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3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Freeform 5" descr="kec2blackborder png.PNG"/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5FA3126-4EA7-FF01-354C-A2B9B817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9366C915-B154-F752-5CB8-3A4CE90CC90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AEEBA246-2A31-DEA0-A48F-C738D68B4CA1}"/>
              </a:ext>
            </a:extLst>
          </p:cNvPr>
          <p:cNvSpPr txBox="1"/>
          <p:nvPr/>
        </p:nvSpPr>
        <p:spPr>
          <a:xfrm>
            <a:off x="899162" y="593242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5942F432-BD63-3C6B-4298-72E192DE44E6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183F33CF-0168-21C6-93A3-BD815DA18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039712"/>
              </p:ext>
            </p:extLst>
          </p:nvPr>
        </p:nvGraphicFramePr>
        <p:xfrm>
          <a:off x="994945" y="1600200"/>
          <a:ext cx="8382000" cy="4884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xmlns="" val="38628347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301189729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xmlns="" val="107682655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xmlns="" val="22620719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xmlns="" val="2118395439"/>
                    </a:ext>
                  </a:extLst>
                </a:gridCol>
              </a:tblGrid>
              <a:tr h="80056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17668208"/>
                  </a:ext>
                </a:extLst>
              </a:tr>
              <a:tr h="10435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Elsevier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Improving Parking Availability Prediction in Smart Cities with </a:t>
                      </a:r>
                      <a:r>
                        <a:rPr lang="en-GB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</a:t>
                      </a:r>
                      <a:r>
                        <a:rPr lang="en-GB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Ensemble‑Based Model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</a:t>
                      </a:r>
                      <a:r>
                        <a:rPr lang="en-GB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Ensemble ML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90%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62507793"/>
                  </a:ext>
                </a:extLst>
              </a:tr>
              <a:tr h="1211535">
                <a:tc>
                  <a:txBody>
                    <a:bodyPr/>
                    <a:lstStyle/>
                    <a:p>
                      <a:pPr algn="ctr" rtl="0"/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Elsevier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2021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Parking Availability Prediction Using Regression Methods and Machine Learning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Regression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87%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39069314"/>
                  </a:ext>
                </a:extLst>
              </a:tr>
              <a:tr h="1211535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Springer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Parking Slot Occupancy Prediction Using LSTM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LSTM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endParaRPr lang="en-IN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en-IN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93%</a:t>
                      </a:r>
                      <a:endParaRPr lang="en-IN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51606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2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030ED1-C1DA-48F2-1343-135B4499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9255291B-037C-F29F-90E9-479C152FC94E}"/>
              </a:ext>
            </a:extLst>
          </p:cNvPr>
          <p:cNvSpPr/>
          <p:nvPr/>
        </p:nvSpPr>
        <p:spPr>
          <a:xfrm>
            <a:off x="62753" y="-56612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0C289300-D12C-ED09-C7BA-427495C96542}"/>
              </a:ext>
            </a:extLst>
          </p:cNvPr>
          <p:cNvSpPr txBox="1"/>
          <p:nvPr/>
        </p:nvSpPr>
        <p:spPr>
          <a:xfrm>
            <a:off x="960569" y="310538"/>
            <a:ext cx="8513505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F8D46400-4D1A-4D61-9969-696303DD3DB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0F73BF3-E9EC-D7B2-E659-1079BA39FEBC}"/>
              </a:ext>
            </a:extLst>
          </p:cNvPr>
          <p:cNvSpPr txBox="1"/>
          <p:nvPr/>
        </p:nvSpPr>
        <p:spPr>
          <a:xfrm>
            <a:off x="1066800" y="990600"/>
            <a:ext cx="85344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predict parking slot availability. This is done using historical data.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reduce traffic congestion. It helps users find parking quickly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efficiency of urban transportation. It supports smart city development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accurate and timely predictions. This helps in better decision-making.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48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531BA1-F07B-2048-06F5-87B3CB94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4461F19D-1BA2-7045-33D5-E6C2220F306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BDE7FB28-238F-78B8-5E78-27F119F7FBA0}"/>
              </a:ext>
            </a:extLst>
          </p:cNvPr>
          <p:cNvSpPr txBox="1"/>
          <p:nvPr/>
        </p:nvSpPr>
        <p:spPr>
          <a:xfrm>
            <a:off x="729594" y="73152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  <a:endParaRPr lang="en-US" sz="3000" dirty="0">
              <a:solidFill>
                <a:srgbClr val="0000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722896D3-0703-E9C8-83A6-C801E70724A4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209800"/>
            <a:ext cx="8401082" cy="3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1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214F5B1F-9500-C56A-711D-4BEBE0ED390B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494749C-DF72-FB3D-760C-E24710719933}"/>
              </a:ext>
            </a:extLst>
          </p:cNvPr>
          <p:cNvSpPr txBox="1"/>
          <p:nvPr/>
        </p:nvSpPr>
        <p:spPr>
          <a:xfrm>
            <a:off x="3048000" y="439623"/>
            <a:ext cx="46473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sz="3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1952D451-11A2-057F-0993-5B26FCCC8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526" y="1371600"/>
            <a:ext cx="8305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Smart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Usage and Occupancy Analytics Dataset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Parking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Slots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Reported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Duration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Purpose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historical parking records that help the model learn parking patterns and predict future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80403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96E2AC-3526-FAB4-E251-F222F74D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6BC0C3DC-30E3-1B9B-D998-2ADD98CCB55D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18E5718-D4A6-7FB4-9450-87B0CDB7043C}"/>
              </a:ext>
            </a:extLst>
          </p:cNvPr>
          <p:cNvSpPr txBox="1"/>
          <p:nvPr/>
        </p:nvSpPr>
        <p:spPr>
          <a:xfrm>
            <a:off x="882895" y="36410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EB860554-4231-BD00-A6E2-80411E082957}"/>
              </a:ext>
            </a:extLst>
          </p:cNvPr>
          <p:cNvSpPr txBox="1"/>
          <p:nvPr/>
        </p:nvSpPr>
        <p:spPr>
          <a:xfrm>
            <a:off x="1016778" y="1066800"/>
            <a:ext cx="8203422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 gathers parking data. It stores historical records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cleans data. It removes noise and errors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module builds the LSTM model. It learns patterns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 generates results. It shows future availability.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C0F1888C-242B-F0E5-76AE-F851E6BB1223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42382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399C68-82DA-0047-A25B-0751C432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E3152EEA-FA33-5E73-935F-846D46C42427}"/>
              </a:ext>
            </a:extLst>
          </p:cNvPr>
          <p:cNvSpPr/>
          <p:nvPr/>
        </p:nvSpPr>
        <p:spPr>
          <a:xfrm>
            <a:off x="-2689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DEEE1ECF-7A54-420D-505D-72ED21A8870B}"/>
              </a:ext>
            </a:extLst>
          </p:cNvPr>
          <p:cNvSpPr txBox="1"/>
          <p:nvPr/>
        </p:nvSpPr>
        <p:spPr>
          <a:xfrm>
            <a:off x="914400" y="228454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SCREENSHOTS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6B95C738-5584-0F37-285A-DB26E6DEF4A2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683" y="1057272"/>
            <a:ext cx="8001000" cy="54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8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26E385-8AA2-D15B-F011-8B91F806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80F62F38-9850-7004-9626-68E4BB056B7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CA87933F-CED9-334E-4DF3-41AFF74ED272}"/>
              </a:ext>
            </a:extLst>
          </p:cNvPr>
          <p:cNvSpPr txBox="1"/>
          <p:nvPr/>
        </p:nvSpPr>
        <p:spPr>
          <a:xfrm>
            <a:off x="882038" y="510309"/>
            <a:ext cx="8573566" cy="5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PERFORMANCE METRICS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96E260C5-FE90-7B10-68FC-5878768CFA9E}"/>
              </a:ext>
            </a:extLst>
          </p:cNvPr>
          <p:cNvSpPr txBox="1"/>
          <p:nvPr/>
        </p:nvSpPr>
        <p:spPr>
          <a:xfrm>
            <a:off x="1600200" y="1589492"/>
            <a:ext cx="754380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error between actual and predicted values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and prediction quality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Σ(Actual − Predicted)² / n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R²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ranges between 0 and 1.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and lower MSE indicate better performance.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B54E31DE-F127-C0F9-F64F-43FCFC2FCC2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88897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8A0E5D-40B1-C7B5-7522-C8E8831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4D773C29-C3EC-BA59-0BC4-6A75A7E5F0AA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C4F5D747-7838-0885-7342-C718C969E491}"/>
              </a:ext>
            </a:extLst>
          </p:cNvPr>
          <p:cNvSpPr txBox="1"/>
          <p:nvPr/>
        </p:nvSpPr>
        <p:spPr>
          <a:xfrm>
            <a:off x="914400" y="493068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ACHIEVED</a:t>
            </a:r>
            <a:endParaRPr lang="en-US" sz="3000" dirty="0">
              <a:solidFill>
                <a:srgbClr val="0000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75DBB3D8-BADD-4903-77FF-5D7FAE567A49}"/>
              </a:ext>
            </a:extLst>
          </p:cNvPr>
          <p:cNvSpPr txBox="1"/>
          <p:nvPr/>
        </p:nvSpPr>
        <p:spPr>
          <a:xfrm>
            <a:off x="914400" y="1137073"/>
            <a:ext cx="830580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LSTM for prediction. It is suitable for time-series data analysis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historical parking data. This helps in identifying patterns and trends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future parking availability. It provides useful insights to users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be simple and efficient. It can be extended for real-time use.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890BAD56-7B22-F1BB-477F-A0441FFB038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70930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8A0E5D-40B1-C7B5-7522-C8E8831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4D773C29-C3EC-BA59-0BC4-6A75A7E5F0AA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C4F5D747-7838-0885-7342-C718C969E491}"/>
              </a:ext>
            </a:extLst>
          </p:cNvPr>
          <p:cNvSpPr txBox="1"/>
          <p:nvPr/>
        </p:nvSpPr>
        <p:spPr>
          <a:xfrm>
            <a:off x="914400" y="278201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lang="en-US" sz="3000" dirty="0">
              <a:solidFill>
                <a:srgbClr val="0000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75DBB3D8-BADD-4903-77FF-5D7FAE567A49}"/>
              </a:ext>
            </a:extLst>
          </p:cNvPr>
          <p:cNvSpPr txBox="1"/>
          <p:nvPr/>
        </p:nvSpPr>
        <p:spPr>
          <a:xfrm>
            <a:off x="724966" y="914400"/>
            <a:ext cx="8647634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Parking Availability Forecasting system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parking slot availability using the LSTM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traffic congestion, fuel consumption, and the time spent searching for parking spaces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achieved improved prediction accuracy by using historical parking data and time-series analysis techniques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be further enhanced with real-time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integration, mobile applications, and smart city deployment.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890BAD56-7B22-F1BB-477F-A0441FFB038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5239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96E2AC-3526-FAB4-E251-F222F74D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6BC0C3DC-30E3-1B9B-D998-2ADD98CCB55D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18E5718-D4A6-7FB4-9450-87B0CDB7043C}"/>
              </a:ext>
            </a:extLst>
          </p:cNvPr>
          <p:cNvSpPr txBox="1"/>
          <p:nvPr/>
        </p:nvSpPr>
        <p:spPr>
          <a:xfrm>
            <a:off x="882895" y="364100"/>
            <a:ext cx="8573566" cy="1234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</a:p>
          <a:p>
            <a:pPr algn="ctr">
              <a:lnSpc>
                <a:spcPts val="5120"/>
              </a:lnSpc>
            </a:pPr>
            <a:endParaRPr lang="en-US" sz="3000" dirty="0">
              <a:solidFill>
                <a:srgbClr val="0000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xmlns="" id="{EB860554-4231-BD00-A6E2-80411E082957}"/>
              </a:ext>
            </a:extLst>
          </p:cNvPr>
          <p:cNvSpPr txBox="1"/>
          <p:nvPr/>
        </p:nvSpPr>
        <p:spPr>
          <a:xfrm>
            <a:off x="1253039" y="1565406"/>
            <a:ext cx="7738561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(2021) – Smart Parking System using Machine Learning. The system uses ML techniques to detect and manage parking availability with good accuracy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Elsevier (2022) – Parking Availability Prediction using Regression Models. The study focuses on predicting parking slots but has limited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accuracy.</a:t>
            </a: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 (2023) – Deep Learning Based Parking Prediction using LSTM. The model handles time-series data effectively and improves prediction performance.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C0F1888C-242B-F0E5-76AE-F851E6BB1223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325178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27B812-DFA4-D23D-2BBA-0E5917D5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FE5F32B1-53A6-360B-8CF7-D0235E4C9E5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xmlns="" id="{D131C2FD-5CB8-D273-E783-FDCFEA6A3DC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xmlns="" id="{2A86C2DD-A82A-7D41-5665-91494303C48F}"/>
              </a:ext>
            </a:extLst>
          </p:cNvPr>
          <p:cNvSpPr txBox="1"/>
          <p:nvPr/>
        </p:nvSpPr>
        <p:spPr>
          <a:xfrm>
            <a:off x="1051005" y="2792360"/>
            <a:ext cx="8123475" cy="9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sz="60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918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10110</TotalTime>
  <Words>543</Words>
  <Application>Microsoft Office PowerPoint</Application>
  <PresentationFormat>Custom</PresentationFormat>
  <Paragraphs>136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- II Base Paper PPT</dc:title>
  <dc:creator>ROHIT P V</dc:creator>
  <cp:lastModifiedBy>USER</cp:lastModifiedBy>
  <cp:revision>44</cp:revision>
  <dcterms:created xsi:type="dcterms:W3CDTF">2006-08-16T00:00:00Z</dcterms:created>
  <dcterms:modified xsi:type="dcterms:W3CDTF">2026-05-29T03:43:43Z</dcterms:modified>
  <dc:identifier>DAGtDquCC84</dc:identifier>
</cp:coreProperties>
</file>